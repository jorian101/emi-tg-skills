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0"/>
  </p:notesMasterIdLst>
  <p:handoutMasterIdLst>
    <p:handoutMasterId r:id="rId21"/>
  </p:handoutMasterIdLst>
  <p:sldIdLst>
    <p:sldId id="370" r:id="rId2"/>
    <p:sldId id="371" r:id="rId3"/>
    <p:sldId id="372" r:id="rId4"/>
    <p:sldId id="389" r:id="rId5"/>
    <p:sldId id="388" r:id="rId6"/>
    <p:sldId id="374" r:id="rId7"/>
    <p:sldId id="375" r:id="rId8"/>
    <p:sldId id="377" r:id="rId9"/>
    <p:sldId id="378" r:id="rId10"/>
    <p:sldId id="391" r:id="rId11"/>
    <p:sldId id="390" r:id="rId12"/>
    <p:sldId id="392" r:id="rId13"/>
    <p:sldId id="379" r:id="rId14"/>
    <p:sldId id="376" r:id="rId15"/>
    <p:sldId id="384" r:id="rId16"/>
    <p:sldId id="380" r:id="rId17"/>
    <p:sldId id="381" r:id="rId18"/>
    <p:sldId id="382" r:id="rId19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D9"/>
    <a:srgbClr val="D96709"/>
    <a:srgbClr val="FF3300"/>
    <a:srgbClr val="EC9412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1" autoAdjust="0"/>
    <p:restoredTop sz="94648" autoAdjust="0"/>
  </p:normalViewPr>
  <p:slideViewPr>
    <p:cSldViewPr snapToGrid="0">
      <p:cViewPr varScale="1">
        <p:scale>
          <a:sx n="79" d="100"/>
          <a:sy n="79" d="100"/>
        </p:scale>
        <p:origin x="174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2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1162DFF-73D5-4CD0-8FA1-77C5AF9B38B6}" type="datetimeFigureOut">
              <a:rPr lang="es-BO" smtClean="0"/>
              <a:t>6/4/2026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8B7ABD0-53BD-459C-9078-7913E75A323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132151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2" y="1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0D22A6E-7A40-436D-814B-62F5B04A244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3"/>
            <a:ext cx="5681980" cy="3696713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36E286B-C166-406D-9D8A-7D0CCBDA76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288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42192-379A-4451-B621-3517ACBA21A4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44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8864-BDDB-42E3-9393-40D2D789677E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9933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EADD7-6ED2-4652-8FEF-EA39515552B2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18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C3E7E-018B-4162-9200-63683444A651}" type="datetime1">
              <a:rPr lang="es-BO" smtClean="0"/>
              <a:t>6/4/2026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2340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2B7BC-AE04-4707-97F1-A23B37E97394}" type="datetime1">
              <a:rPr lang="es-BO" smtClean="0"/>
              <a:t>6/4/2026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8253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0E1B-A36A-49AD-B5CB-109EA085C752}" type="datetime1">
              <a:rPr lang="es-BO" smtClean="0"/>
              <a:t>6/4/2026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153429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F7F3D-33F4-4BB7-B26E-90611BDBCEEF}" type="datetime1">
              <a:rPr lang="es-BO" smtClean="0"/>
              <a:t>6/4/2026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6155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D2279E2-43B2-428F-9306-8B23DE783081}" type="datetime1">
              <a:rPr lang="es-BO" smtClean="0"/>
              <a:t>6/4/2026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6691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1A906-BF73-40B6-A7DF-B4192CBE488B}" type="datetime1">
              <a:rPr lang="es-BO" smtClean="0"/>
              <a:t>6/4/2026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6349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56EA9-E4D2-4D3E-BD98-7BC025AFAB7D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0216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B617-55E6-4B48-A33A-5CEF7ACC4326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172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B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9D0E1B-A36A-49AD-B5CB-109EA085C752}" type="datetime1">
              <a:rPr lang="es-BO" smtClean="0"/>
              <a:t>6/4/2026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6D2F87-E3CE-4D2C-8213-240A77FC200E}" type="slidenum">
              <a:rPr lang="es-BO" smtClean="0"/>
              <a:t>‹Nº›</a:t>
            </a:fld>
            <a:endParaRPr lang="es-B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65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/>
          <p:cNvSpPr txBox="1">
            <a:spLocks/>
          </p:cNvSpPr>
          <p:nvPr/>
        </p:nvSpPr>
        <p:spPr>
          <a:xfrm>
            <a:off x="1234728" y="2635830"/>
            <a:ext cx="9840686" cy="182005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5000" b="1" kern="0" dirty="0">
                <a:solidFill>
                  <a:srgbClr val="002060"/>
                </a:solidFill>
                <a:ea typeface="+mn-ea"/>
                <a:cs typeface="+mn-cs"/>
              </a:rPr>
              <a:t>TÍTULO DEL PROYECTO</a:t>
            </a:r>
            <a:endParaRPr lang="es-ES" sz="50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12" name="Título 3"/>
          <p:cNvSpPr txBox="1">
            <a:spLocks/>
          </p:cNvSpPr>
          <p:nvPr/>
        </p:nvSpPr>
        <p:spPr>
          <a:xfrm>
            <a:off x="841818" y="4383742"/>
            <a:ext cx="10941934" cy="25011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spcAft>
                <a:spcPts val="0"/>
              </a:spcAft>
            </a:pPr>
            <a:endParaRPr lang="es-ES" sz="1600" b="1">
              <a:solidFill>
                <a:schemeClr val="bg1"/>
              </a:solidFill>
              <a:ea typeface="Times New Roman"/>
              <a:cs typeface="Arial" pitchFamily="34" charset="0"/>
            </a:endParaRPr>
          </a:p>
          <a:p>
            <a:pPr lvl="0" algn="just">
              <a:lnSpc>
                <a:spcPct val="100000"/>
              </a:lnSpc>
              <a:spcAft>
                <a:spcPts val="0"/>
              </a:spcAft>
            </a:pPr>
            <a:endParaRPr lang="es-ES" sz="2000">
              <a:latin typeface="Arial"/>
              <a:ea typeface="Times New Roman"/>
              <a:cs typeface="Symbol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es-ES" sz="1800">
                <a:solidFill>
                  <a:srgbClr val="000000"/>
                </a:solidFill>
                <a:latin typeface="Times New Roman"/>
                <a:ea typeface="Calibri"/>
              </a:rPr>
              <a:t>NOMBRE ESTUDIANTE</a:t>
            </a: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es-ES" sz="1800">
                <a:solidFill>
                  <a:srgbClr val="000000"/>
                </a:solidFill>
                <a:latin typeface="Times New Roman"/>
                <a:ea typeface="Calibri"/>
              </a:rPr>
              <a:t>NOMBRE TUTOR</a:t>
            </a:r>
          </a:p>
        </p:txBody>
      </p:sp>
      <p:sp>
        <p:nvSpPr>
          <p:cNvPr id="13" name="Título 3"/>
          <p:cNvSpPr txBox="1">
            <a:spLocks/>
          </p:cNvSpPr>
          <p:nvPr/>
        </p:nvSpPr>
        <p:spPr>
          <a:xfrm>
            <a:off x="7155543" y="6858001"/>
            <a:ext cx="4194629" cy="1828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spcAft>
                <a:spcPts val="0"/>
              </a:spcAft>
            </a:pPr>
            <a:endParaRPr lang="es-ES" sz="2000">
              <a:ea typeface="Times New Roman"/>
              <a:cs typeface="Symbol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D204902-0A35-4208-9F5B-1C8C607088A4}"/>
              </a:ext>
            </a:extLst>
          </p:cNvPr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D6BB42B4-A99B-8C7F-D685-745F6FFA37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  <p:pic>
        <p:nvPicPr>
          <p:cNvPr id="6" name="Imagen 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3D4899C-C216-4D21-8923-C975FBFCE0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321" y="438237"/>
            <a:ext cx="2788705" cy="90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3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>
                <a:solidFill>
                  <a:srgbClr val="002060"/>
                </a:solidFill>
              </a:rPr>
              <a:t>ABSTRACT</a:t>
            </a:r>
            <a:endParaRPr lang="es-ES" sz="3500" b="1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05CF39C4-E9EC-6104-5675-4635C868D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0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 fontScale="90000"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DOCUMENTACIÓN ADMINISTRATIVA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7280" y="1845734"/>
            <a:ext cx="4216842" cy="402336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ES" sz="2500">
                <a:solidFill>
                  <a:srgbClr val="002060"/>
                </a:solidFill>
              </a:rPr>
              <a:t>CARTA DE SOLICITUD AL CASO DE ESTUDIO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58E7A5B-1622-0156-BA30-03F9B20CB43B}"/>
              </a:ext>
            </a:extLst>
          </p:cNvPr>
          <p:cNvSpPr txBox="1">
            <a:spLocks/>
          </p:cNvSpPr>
          <p:nvPr/>
        </p:nvSpPr>
        <p:spPr>
          <a:xfrm>
            <a:off x="6418027" y="1845734"/>
            <a:ext cx="4216842" cy="40233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500">
                <a:solidFill>
                  <a:srgbClr val="002060"/>
                </a:solidFill>
              </a:rPr>
              <a:t>CARTA DE CONFORMIDAD DEL CASO DE ESTUDIO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00378E32-F25C-F3E8-1E07-F9E21BD275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1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INTRODUCCIÓN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PROYECTO DE GRADO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451AD79A-8A87-C96B-EE4F-F0FBBA6763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7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>
                <a:solidFill>
                  <a:srgbClr val="002060"/>
                </a:solidFill>
              </a:rPr>
              <a:t>PROBLEMÁTICA</a:t>
            </a:r>
            <a:endParaRPr lang="es-ES" sz="3500" b="1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FORMULACIÓN DEL PROBLEMA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807B56C3-2532-5FD6-0402-3308426F83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6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>
                <a:solidFill>
                  <a:srgbClr val="002060"/>
                </a:solidFill>
              </a:rPr>
              <a:t>OBJETIVO GENERAL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>
                <a:solidFill>
                  <a:schemeClr val="bg1"/>
                </a:solidFill>
              </a:rPr>
              <a:t>6</a:t>
            </a:r>
            <a:endParaRPr lang="es-ES" sz="3000" dirty="0">
              <a:solidFill>
                <a:schemeClr val="bg1"/>
              </a:solidFill>
            </a:endParaRP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4CE30A46-5A79-6932-E566-881B1D3381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1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>
                <a:solidFill>
                  <a:srgbClr val="002060"/>
                </a:solidFill>
              </a:rPr>
              <a:t>OBJETIVOS ESPECÍFICOS</a:t>
            </a:r>
            <a:endParaRPr lang="es-ES" sz="3500" b="1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11AF05A1-B373-8A9F-D830-CBFBD354F6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8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METODOLOGÍA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PARADIGMA – MÉTODO DE INVESTIGACIÓN – TÉCNICAS DE INVESTIGACIÓN</a:t>
            </a:r>
          </a:p>
          <a:p>
            <a:r>
              <a:rPr lang="es-ES" sz="2500" dirty="0">
                <a:solidFill>
                  <a:srgbClr val="002060"/>
                </a:solidFill>
              </a:rPr>
              <a:t>(OJO: PARADIGMA POSITIVISTA)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F537D7EB-4965-2B4D-70AA-D1FCDD0EEC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7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SOFTWARE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SOFTWARE USADO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92B5DE3D-0354-7DAB-2349-D7AE4DB41A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0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HARDWARE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HARDWARE NECESARIO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E1D2D402-D35F-C084-2246-A5EDA80A9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1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MARCO PRACTICO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688409" y="747252"/>
            <a:ext cx="4267613" cy="443753"/>
          </a:xfrm>
        </p:spPr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(MÁXIMO 10 DIAPOSITIVAS)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2C66AD8-BF91-6932-070E-3A851CA6A8B1}"/>
              </a:ext>
            </a:extLst>
          </p:cNvPr>
          <p:cNvSpPr txBox="1">
            <a:spLocks/>
          </p:cNvSpPr>
          <p:nvPr/>
        </p:nvSpPr>
        <p:spPr>
          <a:xfrm>
            <a:off x="475901" y="1595149"/>
            <a:ext cx="10716355" cy="5506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BO" sz="16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ANÁLISIS DE LA SITUACIÓN ACTUAL (ANTES DEL SISTEMA) (EJEMPLO)</a:t>
            </a:r>
            <a:endParaRPr lang="es-ES" sz="18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BA8548-9ACE-F1E6-AC16-E05B8E93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47" y="2316480"/>
            <a:ext cx="10046209" cy="3669792"/>
          </a:xfrm>
          <a:prstGeom prst="rect">
            <a:avLst/>
          </a:prstGeom>
        </p:spPr>
      </p:pic>
      <p:pic>
        <p:nvPicPr>
          <p:cNvPr id="7" name="Imagen 6" descr="Logotipo&#10;&#10;El contenido generado por IA puede ser incorrecto.">
            <a:extLst>
              <a:ext uri="{FF2B5EF4-FFF2-40B4-BE49-F238E27FC236}">
                <a16:creationId xmlns:a16="http://schemas.microsoft.com/office/drawing/2014/main" id="{67DFBD3C-D80D-655C-539A-7EEB8F6A29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7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9E34-544A-A671-0455-B96CF331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2C854-8E2D-D34E-0168-EA8DEA68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MARCO PRACTICO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7A1396A-4983-3A50-84CC-F0E46FBCFEC9}"/>
              </a:ext>
            </a:extLst>
          </p:cNvPr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CCA31F3-834B-35C9-7F8C-D516A107B128}"/>
              </a:ext>
            </a:extLst>
          </p:cNvPr>
          <p:cNvSpPr txBox="1">
            <a:spLocks/>
          </p:cNvSpPr>
          <p:nvPr/>
        </p:nvSpPr>
        <p:spPr>
          <a:xfrm>
            <a:off x="475901" y="1595149"/>
            <a:ext cx="10716355" cy="5506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BO" sz="16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ANÁLISIS DE LA SITUACIÓN ACTUAL (CON EL SISTEMA)  (EJEMPLO)</a:t>
            </a:r>
            <a:endParaRPr lang="es-ES" sz="18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A14F9D-8AF2-AADC-F303-5730B198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316480"/>
            <a:ext cx="8546592" cy="3121995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A93E686-1D82-D5B0-D0D0-EF4B87ECCE35}"/>
              </a:ext>
            </a:extLst>
          </p:cNvPr>
          <p:cNvSpPr txBox="1">
            <a:spLocks/>
          </p:cNvSpPr>
          <p:nvPr/>
        </p:nvSpPr>
        <p:spPr>
          <a:xfrm>
            <a:off x="1109472" y="5672317"/>
            <a:ext cx="9363456" cy="5506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BO" sz="16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 DEBE HACER UN FLUJOGRAMA QUE MUESTRE LOS PASOS QUE SE SEGUIRÁ EN LA DEMOSTRACIÓN DEL SOFTWARE</a:t>
            </a:r>
            <a:endParaRPr lang="es-ES" sz="1800" b="1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3187D5BA-E7AD-0D1E-904A-3C265BEC5B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FCA6F9FA-8D75-E8D9-01B5-6638D8088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13214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TRABAJO DE CAMPO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>
                <a:solidFill>
                  <a:srgbClr val="002060"/>
                </a:solidFill>
              </a:rPr>
              <a:t>EVIDENCIAS DE LAS PRUEBAS REALIZADAS (FOTOS, ENTREVISTAS, </a:t>
            </a:r>
            <a:r>
              <a:rPr lang="es-ES" sz="2500" dirty="0" err="1">
                <a:solidFill>
                  <a:srgbClr val="002060"/>
                </a:solidFill>
              </a:rPr>
              <a:t>ETC</a:t>
            </a:r>
            <a:r>
              <a:rPr lang="es-ES" sz="2500" dirty="0">
                <a:solidFill>
                  <a:srgbClr val="002060"/>
                </a:solidFill>
              </a:rPr>
              <a:t>) solo imágenes a ser explicadas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CF0B83C2-0AAA-5B8B-85DD-4DD8287236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08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COSTOS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 dirty="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4DD19F19-4D5E-694C-C367-EE11CC6A4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08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DEMOSTRACIÓN SOFTWARE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500" dirty="0">
                <a:solidFill>
                  <a:srgbClr val="002060"/>
                </a:solidFill>
              </a:rPr>
              <a:t>LINK AL EJECUTABLE.</a:t>
            </a: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15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7B2E8874-8A40-9824-7329-3672F15A51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7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CONCLUSIONES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 dirty="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B7850C72-48B0-4A61-BFAA-7A1FE42353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7483" y="406400"/>
            <a:ext cx="6233020" cy="894181"/>
          </a:xfrm>
        </p:spPr>
        <p:txBody>
          <a:bodyPr>
            <a:normAutofit/>
          </a:bodyPr>
          <a:lstStyle/>
          <a:p>
            <a:pPr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 dirty="0">
                <a:solidFill>
                  <a:srgbClr val="002060"/>
                </a:solidFill>
              </a:rPr>
              <a:t>RECOMENDACIONES</a:t>
            </a:r>
            <a:endParaRPr lang="es-ES" sz="3500" b="1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500" dirty="0">
              <a:solidFill>
                <a:srgbClr val="002060"/>
              </a:solidFill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 dirty="0">
                <a:solidFill>
                  <a:schemeClr val="bg1"/>
                </a:solidFill>
              </a:rPr>
              <a:t>17</a:t>
            </a:r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3F964588-8D16-F844-9280-F413E4D9B5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39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38546" y="2816557"/>
            <a:ext cx="6233020" cy="894181"/>
          </a:xfrm>
        </p:spPr>
        <p:txBody>
          <a:bodyPr>
            <a:normAutofit/>
          </a:bodyPr>
          <a:lstStyle/>
          <a:p>
            <a:pPr algn="ctr" defTabSz="433552">
              <a:lnSpc>
                <a:spcPct val="100000"/>
              </a:lnSpc>
              <a:spcBef>
                <a:spcPts val="474"/>
              </a:spcBef>
              <a:defRPr/>
            </a:pPr>
            <a:r>
              <a:rPr lang="es-MX" sz="3500" b="1" kern="0">
                <a:solidFill>
                  <a:srgbClr val="002060"/>
                </a:solidFill>
              </a:rPr>
              <a:t>GRACIAS</a:t>
            </a:r>
            <a:endParaRPr lang="es-ES" sz="3500" b="1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0956022" y="6414247"/>
            <a:ext cx="1118532" cy="443753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3000">
                <a:solidFill>
                  <a:schemeClr val="bg1"/>
                </a:solidFill>
              </a:rPr>
              <a:t>18</a:t>
            </a:r>
            <a:endParaRPr lang="es-ES" sz="3000" dirty="0">
              <a:solidFill>
                <a:schemeClr val="bg1"/>
              </a:solidFill>
            </a:endParaRP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7689340C-9021-DFE9-6E0D-A056C6224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9" y="144541"/>
            <a:ext cx="2520000" cy="119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92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Personalizado 12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C00000"/>
      </a:accent1>
      <a:accent2>
        <a:srgbClr val="C00000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12734</TotalTime>
  <Words>158</Words>
  <Application>Microsoft Office PowerPoint</Application>
  <PresentationFormat>Panorámica</PresentationFormat>
  <Paragraphs>54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Retrospección</vt:lpstr>
      <vt:lpstr>Presentación de PowerPoint</vt:lpstr>
      <vt:lpstr>ABSTRACT</vt:lpstr>
      <vt:lpstr>DOCUMENTACIÓN ADMINISTRATIVA</vt:lpstr>
      <vt:lpstr>INTRODUCCIÓN</vt:lpstr>
      <vt:lpstr>PROBLEMÁTICA</vt:lpstr>
      <vt:lpstr>OBJETIVO GENERAL</vt:lpstr>
      <vt:lpstr>OBJETIVOS ESPECÍFICOS</vt:lpstr>
      <vt:lpstr>METODOLOGÍA</vt:lpstr>
      <vt:lpstr>SOFTWARE</vt:lpstr>
      <vt:lpstr>HARDWARE</vt:lpstr>
      <vt:lpstr>MARCO PRACTICO</vt:lpstr>
      <vt:lpstr>MARCO PRACTICO</vt:lpstr>
      <vt:lpstr>TRABAJO DE CAMPO</vt:lpstr>
      <vt:lpstr>COSTOS</vt:lpstr>
      <vt:lpstr>DEMOSTRACIÓN SOFTWARE</vt:lpstr>
      <vt:lpstr>CONCLUSIONES</vt:lpstr>
      <vt:lpstr>RECOMENDACIONES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249</cp:revision>
  <cp:lastPrinted>2018-10-15T16:40:12Z</cp:lastPrinted>
  <dcterms:created xsi:type="dcterms:W3CDTF">2017-05-09T16:53:30Z</dcterms:created>
  <dcterms:modified xsi:type="dcterms:W3CDTF">2026-04-06T20:18:02Z</dcterms:modified>
</cp:coreProperties>
</file>